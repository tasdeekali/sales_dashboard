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78240" y="502920"/>
            <a:ext cx="2834640" cy="566928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002879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2757264"/>
            <a:ext cx="2514600" cy="11148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234440"/>
            <a:ext cx="6126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B0F0"/>
                </a:solidFill>
                <a:latin typeface="Aptos"/>
              </a:defRPr>
            </a:pPr>
            <a:r>
              <a:t>E-COMMERCE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7498079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600" b="1">
                <a:solidFill>
                  <a:srgbClr val="F8F9FF"/>
                </a:solidFill>
                <a:latin typeface="Aptos"/>
              </a:defRPr>
            </a:pPr>
            <a:r>
              <a:t>SALES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713232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BEC7DE"/>
                </a:solidFill>
                <a:latin typeface="Aptos"/>
              </a:defRPr>
            </a:pPr>
            <a:r>
              <a:t>A visual analysis of sales, quantity, profit and customer payment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160520"/>
            <a:ext cx="3063240" cy="566928"/>
          </a:xfrm>
          <a:prstGeom prst="roundRect">
            <a:avLst/>
          </a:prstGeom>
          <a:solidFill>
            <a:srgbClr val="22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15968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F8F9FF"/>
                </a:solidFill>
                <a:latin typeface="Aptos"/>
              </a:defRPr>
            </a:pPr>
            <a:r>
              <a:t>POWER BI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74920"/>
            <a:ext cx="7132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BEC7DE"/>
                </a:solidFill>
                <a:latin typeface="Aptos"/>
              </a:defRPr>
            </a:pPr>
            <a:r>
              <a:t>Dashboard walkthrough • Key metrics • Trends •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080760"/>
            <a:ext cx="5303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BEC7DE"/>
                </a:solidFill>
                <a:latin typeface="Aptos"/>
              </a:defRPr>
            </a:pPr>
            <a:r>
              <a:t>Prepared for classroom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BEC7DE"/>
                </a:solidFill>
                <a:latin typeface="Aptos"/>
              </a:defRPr>
            </a:pPr>
            <a:r>
              <a:t>MADHAV E-COMMERCE SALES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0B0F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F8F9FF"/>
                </a:solidFill>
                <a:latin typeface="Aptos"/>
              </a:defRPr>
            </a:pPr>
            <a:r>
              <a:t>01  |  Dashboard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8686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BEC7DE"/>
                </a:solidFill>
                <a:latin typeface="Aptos"/>
              </a:defRPr>
            </a:pPr>
            <a:r>
              <a:t>One page brings the main business measures and breakdowns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7452360" cy="443484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002879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3514"/>
            <a:ext cx="7178040" cy="31824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417320"/>
            <a:ext cx="3520440" cy="443484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737360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B0F0"/>
                </a:solidFill>
                <a:latin typeface="Aptos"/>
              </a:defRPr>
            </a:pPr>
            <a:r>
              <a:t>KPI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048255"/>
            <a:ext cx="28346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8F9FF"/>
                </a:solidFill>
                <a:latin typeface="Aptos"/>
              </a:defRPr>
            </a:pPr>
            <a:r>
              <a:t>Quick snapshot of revenue, quantity, profit and average order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971800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B0F0"/>
                </a:solidFill>
                <a:latin typeface="Aptos"/>
              </a:defRPr>
            </a:pPr>
            <a:r>
              <a:t>CATEGORY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282696"/>
            <a:ext cx="28346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8F9FF"/>
                </a:solidFill>
                <a:latin typeface="Aptos"/>
              </a:defRPr>
            </a:pPr>
            <a:r>
              <a:t>Compare product categories and payment methods.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206240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0B0F0"/>
                </a:solidFill>
                <a:latin typeface="Aptos"/>
              </a:defRPr>
            </a:pPr>
            <a:r>
              <a:t>QUARTER SLICER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517136"/>
            <a:ext cx="28346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8F9FF"/>
                </a:solidFill>
                <a:latin typeface="Aptos"/>
              </a:defRPr>
            </a:pPr>
            <a:r>
              <a:t>Filter the dashboard to view different periods.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BEC7DE"/>
                </a:solidFill>
                <a:latin typeface="Aptos"/>
              </a:defRPr>
            </a:pPr>
            <a:r>
              <a:t>MADHAV E-COMMERCE SALES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0B0F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F8F9FF"/>
                </a:solidFill>
                <a:latin typeface="Aptos"/>
              </a:defRPr>
            </a:pPr>
            <a:r>
              <a:t>02  |  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070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BEC7DE"/>
                </a:solidFill>
                <a:latin typeface="Aptos"/>
              </a:defRPr>
            </a:pPr>
            <a:r>
              <a:t>The top cards summarise performance for the selected quarter. Values change when the slicer changes.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240280" cy="1325880"/>
          </a:xfrm>
          <a:prstGeom prst="roundRect">
            <a:avLst/>
          </a:prstGeom>
          <a:solidFill>
            <a:srgbClr val="191E3E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91640"/>
            <a:ext cx="2240280" cy="8229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00B0F0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31720"/>
            <a:ext cx="1874519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8F9FF"/>
                </a:solidFill>
                <a:latin typeface="Aptos"/>
              </a:defRPr>
            </a:pPr>
            <a:r>
              <a:t>Total sales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91640"/>
            <a:ext cx="2240280" cy="1325880"/>
          </a:xfrm>
          <a:prstGeom prst="roundRect">
            <a:avLst/>
          </a:prstGeom>
          <a:solidFill>
            <a:srgbClr val="191E3E"/>
          </a:solidFill>
          <a:ln w="12700">
            <a:solidFill>
              <a:srgbClr val="22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40" y="1691640"/>
            <a:ext cx="2240280" cy="82296"/>
          </a:xfrm>
          <a:prstGeom prst="rect">
            <a:avLst/>
          </a:prstGeom>
          <a:solidFill>
            <a:srgbClr val="22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938528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2278DC"/>
                </a:solidFill>
                <a:latin typeface="Aptos"/>
              </a:defRPr>
            </a:pPr>
            <a:r>
              <a:t>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331720"/>
            <a:ext cx="1874519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8F9FF"/>
                </a:solidFill>
                <a:latin typeface="Aptos"/>
              </a:defRPr>
            </a:pPr>
            <a:r>
              <a:t>Units/items sold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91640"/>
            <a:ext cx="2240280" cy="1325880"/>
          </a:xfrm>
          <a:prstGeom prst="roundRect">
            <a:avLst/>
          </a:prstGeom>
          <a:solidFill>
            <a:srgbClr val="191E3E"/>
          </a:solidFill>
          <a:ln w="12700">
            <a:solidFill>
              <a:srgbClr val="F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691640"/>
            <a:ext cx="2240280" cy="82296"/>
          </a:xfrm>
          <a:prstGeom prst="rect">
            <a:avLst/>
          </a:prstGeom>
          <a:solidFill>
            <a:srgbClr val="F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938528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F02855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331720"/>
            <a:ext cx="1874519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8F9FF"/>
                </a:solidFill>
                <a:latin typeface="Aptos"/>
              </a:defRPr>
            </a:pPr>
            <a:r>
              <a:t>Profit or loss indicator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691640"/>
            <a:ext cx="2240280" cy="1325880"/>
          </a:xfrm>
          <a:prstGeom prst="roundRect">
            <a:avLst/>
          </a:prstGeom>
          <a:solidFill>
            <a:srgbClr val="191E3E"/>
          </a:solidFill>
          <a:ln w="12700">
            <a:solidFill>
              <a:srgbClr val="FFC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72600" y="1691640"/>
            <a:ext cx="2240280" cy="82296"/>
          </a:xfrm>
          <a:prstGeom prst="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192" y="1938528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FFC257"/>
                </a:solidFill>
                <a:latin typeface="Aptos"/>
              </a:defRPr>
            </a:pPr>
            <a:r>
              <a:t>AOV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331720"/>
            <a:ext cx="1874519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8F9FF"/>
                </a:solidFill>
                <a:latin typeface="Aptos"/>
              </a:defRPr>
            </a:pPr>
            <a:r>
              <a:t>Average order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474720"/>
            <a:ext cx="5303520" cy="201168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30752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8F9FF"/>
                </a:solidFill>
                <a:latin typeface="Aptos"/>
              </a:defRPr>
            </a:pPr>
            <a:r>
              <a:t>How to explain these in a viva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466344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BEC7DE"/>
                </a:solidFill>
                <a:latin typeface="Aptos"/>
              </a:defRPr>
            </a:pPr>
            <a:r>
              <a:t>• Revenue shows the value generated from sales.</a:t>
            </a:r>
            <a:br/>
            <a:r>
              <a:t>• Quantity shows the volume sold.</a:t>
            </a:r>
            <a:br/>
            <a:r>
              <a:t>• Profit helps assess business performance.</a:t>
            </a:r>
            <a:br/>
            <a:r>
              <a:t>• AOV means average order value: revenue ÷ number of orders.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474720"/>
            <a:ext cx="5349240" cy="201168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730752"/>
            <a:ext cx="46634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8F9FF"/>
                </a:solidFill>
                <a:latin typeface="Aptos"/>
              </a:defRPr>
            </a:pPr>
            <a:r>
              <a:t>Important interpretation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87952"/>
            <a:ext cx="457200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BEC7DE"/>
                </a:solidFill>
                <a:latin typeface="Aptos"/>
              </a:defRPr>
            </a:pPr>
            <a:r>
              <a:t>A negative profit value can indicate a loss in the selected period. Always check the quarter filter and the underlying data before drawing conclusions.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BEC7DE"/>
                </a:solidFill>
                <a:latin typeface="Aptos"/>
              </a:defRPr>
            </a:pPr>
            <a:r>
              <a:t>MADHAV E-COMMERCE SALES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0B0F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F8F9FF"/>
                </a:solidFill>
                <a:latin typeface="Aptos"/>
              </a:defRPr>
            </a:pPr>
            <a:r>
              <a:t>03  |  Product and payment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BEC7DE"/>
                </a:solidFill>
                <a:latin typeface="Aptos"/>
              </a:defRPr>
            </a:pPr>
            <a:r>
              <a:t>Bar charts rank categories; donut charts show each category's share of the total.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532120" cy="425196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002879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83315"/>
            <a:ext cx="5212080" cy="23108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1417320"/>
            <a:ext cx="5440680" cy="425196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002879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403586"/>
            <a:ext cx="5120640" cy="22702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338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BEC7DE"/>
                </a:solidFill>
                <a:latin typeface="Aptos"/>
              </a:defRPr>
            </a:pPr>
            <a:r>
              <a:t>Read the longest bars as the largest values; use the donut labels/legend to compare category shares.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BEC7DE"/>
                </a:solidFill>
                <a:latin typeface="Aptos"/>
              </a:defRPr>
            </a:pPr>
            <a:r>
              <a:t>MADHAV E-COMMERCE SALES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0B0F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F8F9FF"/>
                </a:solidFill>
                <a:latin typeface="Aptos"/>
              </a:defRPr>
            </a:pPr>
            <a:r>
              <a:t>04  |  Quarter-wise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BEC7DE"/>
                </a:solidFill>
                <a:latin typeface="Aptos"/>
              </a:defRPr>
            </a:pPr>
            <a:r>
              <a:t>The quarter slicer makes the report interactive: selecting a quarter updates the cards and charts.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7086600" cy="438912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002879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97163"/>
            <a:ext cx="6812280" cy="30202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417320"/>
            <a:ext cx="3794760" cy="438912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1312" y="1755648"/>
            <a:ext cx="31546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00B0F0"/>
                </a:solidFill>
                <a:latin typeface="Aptos"/>
              </a:defRPr>
            </a:pPr>
            <a:r>
              <a:t>How to present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1312" y="2331720"/>
            <a:ext cx="3063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8F9FF"/>
                </a:solidFill>
                <a:latin typeface="Aptos"/>
              </a:defRPr>
            </a:pPr>
            <a:r>
              <a:t>1. Select Qtr 1, Qtr 2, Qtr 3 or Qtr 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3081527"/>
            <a:ext cx="3063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8F9FF"/>
                </a:solidFill>
                <a:latin typeface="Aptos"/>
              </a:defRPr>
            </a:pPr>
            <a:r>
              <a:t>2. Observe how the KPI cards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3831335"/>
            <a:ext cx="3063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8F9FF"/>
                </a:solidFill>
                <a:latin typeface="Aptos"/>
              </a:defRPr>
            </a:pPr>
            <a:r>
              <a:t>3. Compare monthly bars and category charts.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4581144"/>
            <a:ext cx="3063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8F9FF"/>
                </a:solidFill>
                <a:latin typeface="Aptos"/>
              </a:defRPr>
            </a:pPr>
            <a:r>
              <a:t>4. Explain which period appears stronger and verify why.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5440680"/>
            <a:ext cx="30632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BEC7DE"/>
                </a:solidFill>
                <a:latin typeface="Aptos"/>
              </a:defRPr>
            </a:pPr>
            <a:r>
              <a:t>Use the same scale and check filters before comparing quarters.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BEC7DE"/>
                </a:solidFill>
                <a:latin typeface="Aptos"/>
              </a:defRPr>
            </a:pPr>
            <a:r>
              <a:t>MADHAV E-COMMERCE SALES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0B0F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F8F9FF"/>
                </a:solidFill>
                <a:latin typeface="Aptos"/>
              </a:defRPr>
            </a:pPr>
            <a:r>
              <a:t>05  | 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98755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BEC7DE"/>
                </a:solidFill>
                <a:latin typeface="Aptos"/>
              </a:defRPr>
            </a:pPr>
            <a:r>
              <a:t>A dashboard turns raw transaction data into information that supports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120640" cy="132588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801368"/>
            <a:ext cx="44805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00B0F0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94560"/>
            <a:ext cx="45262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8F9FF"/>
                </a:solidFill>
                <a:latin typeface="Aptos"/>
              </a:defRPr>
            </a:pPr>
            <a:r>
              <a:t>Track revenue, quantity, profit and AOV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120640" cy="132588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801368"/>
            <a:ext cx="44805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00B0F0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194560"/>
            <a:ext cx="45262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8F9FF"/>
                </a:solidFill>
                <a:latin typeface="Aptos"/>
              </a:defRPr>
            </a:pPr>
            <a:r>
              <a:t>Use product and payment breakdowns to identify high-contributing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120640" cy="132588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630168"/>
            <a:ext cx="44805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00B0F0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23360"/>
            <a:ext cx="45262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8F9FF"/>
                </a:solidFill>
                <a:latin typeface="Aptos"/>
              </a:defRPr>
            </a:pPr>
            <a:r>
              <a:t>Use quarter selection to examine performance across periods.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429000"/>
            <a:ext cx="5120640" cy="1325880"/>
          </a:xfrm>
          <a:prstGeom prst="roundRect">
            <a:avLst/>
          </a:prstGeom>
          <a:solidFill>
            <a:srgbClr val="19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630168"/>
            <a:ext cx="44805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00B0F0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023360"/>
            <a:ext cx="45262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8F9FF"/>
                </a:solidFill>
                <a:latin typeface="Aptos"/>
              </a:defRPr>
            </a:pPr>
            <a:r>
              <a:t>Review negative profit or unusual changes before making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349240"/>
            <a:ext cx="10607040" cy="658368"/>
          </a:xfrm>
          <a:prstGeom prst="roundRect">
            <a:avLst/>
          </a:prstGeom>
          <a:solidFill>
            <a:srgbClr val="22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41264"/>
            <a:ext cx="101498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F8F9FF"/>
                </a:solidFill>
                <a:latin typeface="Aptos"/>
              </a:defRPr>
            </a:pPr>
            <a:r>
              <a:t>Conclusion: Interactive visuals make e-commerce performance easier to understand and explain.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BEC7DE"/>
                </a:solidFill>
                <a:latin typeface="Aptos"/>
              </a:defRPr>
            </a:pPr>
            <a:r>
              <a:t>MADHAV E-COMMERCE SALES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0B0F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